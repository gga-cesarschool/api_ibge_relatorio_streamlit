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Desocupação Total (%)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9.1</c:v>
                </c:pt>
                <c:pt idx="1">
                  <c:v>9.1</c:v>
                </c:pt>
                <c:pt idx="2">
                  <c:v>8.2</c:v>
                </c:pt>
                <c:pt idx="3">
                  <c:v>10</c:v>
                </c:pt>
                <c:pt idx="4">
                  <c:v>14.8</c:v>
                </c:pt>
                <c:pt idx="5">
                  <c:v>17.8</c:v>
                </c:pt>
                <c:pt idx="6">
                  <c:v>16.9</c:v>
                </c:pt>
                <c:pt idx="7">
                  <c:v>15.6</c:v>
                </c:pt>
                <c:pt idx="8">
                  <c:v>14.8</c:v>
                </c:pt>
                <c:pt idx="9">
                  <c:v>13.3</c:v>
                </c:pt>
                <c:pt idx="10">
                  <c:v>13.4</c:v>
                </c:pt>
                <c:pt idx="11">
                  <c:v>11.2</c:v>
                </c:pt>
                <c:pt idx="12">
                  <c:v>10.2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Desocupação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9.1</c:v>
                </c:pt>
                <c:pt idx="1">
                  <c:v>9.1</c:v>
                </c:pt>
                <c:pt idx="2">
                  <c:v>8.2</c:v>
                </c:pt>
                <c:pt idx="3">
                  <c:v>10</c:v>
                </c:pt>
                <c:pt idx="4">
                  <c:v>14.8</c:v>
                </c:pt>
                <c:pt idx="5">
                  <c:v>17.8</c:v>
                </c:pt>
                <c:pt idx="6">
                  <c:v>16.9</c:v>
                </c:pt>
                <c:pt idx="7">
                  <c:v>15.6</c:v>
                </c:pt>
                <c:pt idx="8">
                  <c:v>14.8</c:v>
                </c:pt>
                <c:pt idx="9">
                  <c:v>13.3</c:v>
                </c:pt>
                <c:pt idx="10">
                  <c:v>13.4</c:v>
                </c:pt>
                <c:pt idx="11">
                  <c:v>11.2</c:v>
                </c:pt>
                <c:pt idx="12">
                  <c:v>10.2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9.1</c:v>
                </c:pt>
                <c:pt idx="1">
                  <c:v>9.1</c:v>
                </c:pt>
                <c:pt idx="2">
                  <c:v>8.2</c:v>
                </c:pt>
                <c:pt idx="3">
                  <c:v>10</c:v>
                </c:pt>
                <c:pt idx="4">
                  <c:v>14.8</c:v>
                </c:pt>
                <c:pt idx="5">
                  <c:v>17.8</c:v>
                </c:pt>
                <c:pt idx="6">
                  <c:v>16.9</c:v>
                </c:pt>
                <c:pt idx="7">
                  <c:v>15.6</c:v>
                </c:pt>
                <c:pt idx="8">
                  <c:v>14.8</c:v>
                </c:pt>
                <c:pt idx="9">
                  <c:v>13.3</c:v>
                </c:pt>
                <c:pt idx="10">
                  <c:v>13.4</c:v>
                </c:pt>
                <c:pt idx="11">
                  <c:v>11.2</c:v>
                </c:pt>
                <c:pt idx="12">
                  <c:v>10.2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Homens</c:v>
                </c:pt>
              </c:strCache>
            </c:strRef>
          </c:tx>
          <c:spPr>
            <a:solidFill>
              <a:srgbClr val="2196F3"/>
            </a:solidFill>
            <a:ln w="3175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7.2</c:v>
                </c:pt>
                <c:pt idx="1">
                  <c:v>7.3</c:v>
                </c:pt>
                <c:pt idx="2">
                  <c:v>7.2</c:v>
                </c:pt>
                <c:pt idx="3">
                  <c:v>8.9</c:v>
                </c:pt>
                <c:pt idx="4">
                  <c:v>13.4</c:v>
                </c:pt>
                <c:pt idx="5">
                  <c:v>16.4</c:v>
                </c:pt>
                <c:pt idx="6">
                  <c:v>16</c:v>
                </c:pt>
                <c:pt idx="7">
                  <c:v>13.6</c:v>
                </c:pt>
                <c:pt idx="8">
                  <c:v>13.4</c:v>
                </c:pt>
                <c:pt idx="9">
                  <c:v>10.7</c:v>
                </c:pt>
                <c:pt idx="10">
                  <c:v>11.5</c:v>
                </c:pt>
                <c:pt idx="11">
                  <c:v>9.3</c:v>
                </c:pt>
                <c:pt idx="12">
                  <c:v>8.8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Mulheres</c:v>
                </c:pt>
              </c:strCache>
            </c:strRef>
          </c:tx>
          <c:spPr>
            <a:solidFill>
              <a:srgbClr val="E91E63"/>
            </a:solidFill>
            <a:ln w="31750" cap="flat">
              <a:solidFill>
                <a:srgbClr val="E91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1E63"/>
              </a:solidFill>
              <a:ln w="9525" cap="flat">
                <a:solidFill>
                  <a:srgbClr val="E91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11.8</c:v>
                </c:pt>
                <c:pt idx="1">
                  <c:v>11.6</c:v>
                </c:pt>
                <c:pt idx="2">
                  <c:v>9.8</c:v>
                </c:pt>
                <c:pt idx="3">
                  <c:v>11.4</c:v>
                </c:pt>
                <c:pt idx="4">
                  <c:v>16.6</c:v>
                </c:pt>
                <c:pt idx="5">
                  <c:v>19.8</c:v>
                </c:pt>
                <c:pt idx="6">
                  <c:v>18.2</c:v>
                </c:pt>
                <c:pt idx="7">
                  <c:v>18.4</c:v>
                </c:pt>
                <c:pt idx="8">
                  <c:v>16.7</c:v>
                </c:pt>
                <c:pt idx="9">
                  <c:v>16.8</c:v>
                </c:pt>
                <c:pt idx="10">
                  <c:v>15.9</c:v>
                </c:pt>
                <c:pt idx="11">
                  <c:v>13.7</c:v>
                </c:pt>
                <c:pt idx="12">
                  <c:v>12.1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Homens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7.2</c:v>
                </c:pt>
                <c:pt idx="1">
                  <c:v>7.3</c:v>
                </c:pt>
                <c:pt idx="2">
                  <c:v>7.2</c:v>
                </c:pt>
                <c:pt idx="3">
                  <c:v>8.9</c:v>
                </c:pt>
                <c:pt idx="4">
                  <c:v>13.4</c:v>
                </c:pt>
                <c:pt idx="5">
                  <c:v>16.4</c:v>
                </c:pt>
                <c:pt idx="6">
                  <c:v>16</c:v>
                </c:pt>
                <c:pt idx="7">
                  <c:v>13.6</c:v>
                </c:pt>
                <c:pt idx="8">
                  <c:v>13.4</c:v>
                </c:pt>
                <c:pt idx="9">
                  <c:v>10.7</c:v>
                </c:pt>
                <c:pt idx="10">
                  <c:v>11.5</c:v>
                </c:pt>
                <c:pt idx="11">
                  <c:v>9.3</c:v>
                </c:pt>
                <c:pt idx="12">
                  <c:v>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Mulheres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11.8</c:v>
                </c:pt>
                <c:pt idx="1">
                  <c:v>11.6</c:v>
                </c:pt>
                <c:pt idx="2">
                  <c:v>9.8</c:v>
                </c:pt>
                <c:pt idx="3">
                  <c:v>11.4</c:v>
                </c:pt>
                <c:pt idx="4">
                  <c:v>16.6</c:v>
                </c:pt>
                <c:pt idx="5">
                  <c:v>19.8</c:v>
                </c:pt>
                <c:pt idx="6">
                  <c:v>18.2</c:v>
                </c:pt>
                <c:pt idx="7">
                  <c:v>18.4</c:v>
                </c:pt>
                <c:pt idx="8">
                  <c:v>16.7</c:v>
                </c:pt>
                <c:pt idx="9">
                  <c:v>16.8</c:v>
                </c:pt>
                <c:pt idx="10">
                  <c:v>15.9</c:v>
                </c:pt>
                <c:pt idx="11">
                  <c:v>13.7</c:v>
                </c:pt>
                <c:pt idx="12">
                  <c:v>12.1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</c:v>
                </c:pt>
                <c:pt idx="1">
                  <c:v>55</c:v>
                </c:pt>
                <c:pt idx="2">
                  <c:v>55.4</c:v>
                </c:pt>
                <c:pt idx="3">
                  <c:v>56.1</c:v>
                </c:pt>
                <c:pt idx="4">
                  <c:v>55.1</c:v>
                </c:pt>
                <c:pt idx="5">
                  <c:v>54.8</c:v>
                </c:pt>
                <c:pt idx="6">
                  <c:v>56.3</c:v>
                </c:pt>
                <c:pt idx="7">
                  <c:v>55.9</c:v>
                </c:pt>
                <c:pt idx="8">
                  <c:v>53.2</c:v>
                </c:pt>
                <c:pt idx="9">
                  <c:v>55.2</c:v>
                </c:pt>
                <c:pt idx="10">
                  <c:v>54</c:v>
                </c:pt>
                <c:pt idx="11">
                  <c:v>55</c:v>
                </c:pt>
                <c:pt idx="12">
                  <c:v>54.2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Homens</c:v>
                </c:pt>
              </c:strCache>
            </c:strRef>
          </c:tx>
          <c:spPr>
            <a:solidFill>
              <a:srgbClr val="2196F3"/>
            </a:solidFill>
            <a:ln w="3175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69.9</c:v>
                </c:pt>
                <c:pt idx="1">
                  <c:v>68.5</c:v>
                </c:pt>
                <c:pt idx="2">
                  <c:v>68.8</c:v>
                </c:pt>
                <c:pt idx="3">
                  <c:v>69.2</c:v>
                </c:pt>
                <c:pt idx="4">
                  <c:v>68.1</c:v>
                </c:pt>
                <c:pt idx="5">
                  <c:v>67.6</c:v>
                </c:pt>
                <c:pt idx="6">
                  <c:v>68.9</c:v>
                </c:pt>
                <c:pt idx="7">
                  <c:v>68.5</c:v>
                </c:pt>
                <c:pt idx="8">
                  <c:v>66</c:v>
                </c:pt>
                <c:pt idx="9">
                  <c:v>67</c:v>
                </c:pt>
                <c:pt idx="10">
                  <c:v>66.4</c:v>
                </c:pt>
                <c:pt idx="11">
                  <c:v>67.2</c:v>
                </c:pt>
                <c:pt idx="12">
                  <c:v>65.9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Mulheres</c:v>
                </c:pt>
              </c:strCache>
            </c:strRef>
          </c:tx>
          <c:spPr>
            <a:solidFill>
              <a:srgbClr val="E91E63"/>
            </a:solidFill>
            <a:ln w="31750" cap="flat">
              <a:solidFill>
                <a:srgbClr val="E91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1E63"/>
              </a:solidFill>
              <a:ln w="9525" cap="flat">
                <a:solidFill>
                  <a:srgbClr val="E91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43.8</c:v>
                </c:pt>
                <c:pt idx="1">
                  <c:v>43</c:v>
                </c:pt>
                <c:pt idx="2">
                  <c:v>43.5</c:v>
                </c:pt>
                <c:pt idx="3">
                  <c:v>44</c:v>
                </c:pt>
                <c:pt idx="4">
                  <c:v>43.2</c:v>
                </c:pt>
                <c:pt idx="5">
                  <c:v>43.1</c:v>
                </c:pt>
                <c:pt idx="6">
                  <c:v>44.8</c:v>
                </c:pt>
                <c:pt idx="7">
                  <c:v>44.5</c:v>
                </c:pt>
                <c:pt idx="8">
                  <c:v>42</c:v>
                </c:pt>
                <c:pt idx="9">
                  <c:v>44.2</c:v>
                </c:pt>
                <c:pt idx="10">
                  <c:v>43</c:v>
                </c:pt>
                <c:pt idx="11">
                  <c:v>43.9</c:v>
                </c:pt>
                <c:pt idx="12">
                  <c:v>43.5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4A623"/>
            </a:solidFill>
            <a:ln w="31750" cap="flat">
              <a:solidFill>
                <a:srgbClr val="F4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623"/>
              </a:solidFill>
              <a:ln w="9525" cap="flat">
                <a:solidFill>
                  <a:srgbClr val="F4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46.4</c:v>
                </c:pt>
                <c:pt idx="1">
                  <c:v>47.6</c:v>
                </c:pt>
                <c:pt idx="2">
                  <c:v>48.6</c:v>
                </c:pt>
                <c:pt idx="3">
                  <c:v>48.2</c:v>
                </c:pt>
                <c:pt idx="4">
                  <c:v>49</c:v>
                </c:pt>
                <c:pt idx="5">
                  <c:v>48.6</c:v>
                </c:pt>
                <c:pt idx="6">
                  <c:v>50.7</c:v>
                </c:pt>
                <c:pt idx="7">
                  <c:v>49.4</c:v>
                </c:pt>
                <c:pt idx="8">
                  <c:v>49.8</c:v>
                </c:pt>
                <c:pt idx="9">
                  <c:v>47.2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Homens</c:v>
                </c:pt>
              </c:strCache>
            </c:strRef>
          </c:tx>
          <c:spPr>
            <a:solidFill>
              <a:srgbClr val="2196F3"/>
            </a:solidFill>
            <a:ln w="3175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48</c:v>
                </c:pt>
                <c:pt idx="1">
                  <c:v>49.2</c:v>
                </c:pt>
                <c:pt idx="2">
                  <c:v>50.1</c:v>
                </c:pt>
                <c:pt idx="3">
                  <c:v>50</c:v>
                </c:pt>
                <c:pt idx="4">
                  <c:v>50.8</c:v>
                </c:pt>
                <c:pt idx="5">
                  <c:v>50.2</c:v>
                </c:pt>
                <c:pt idx="6">
                  <c:v>52.3</c:v>
                </c:pt>
                <c:pt idx="7">
                  <c:v>51</c:v>
                </c:pt>
                <c:pt idx="8">
                  <c:v>50.8</c:v>
                </c:pt>
                <c:pt idx="9">
                  <c:v>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Mulheres</c:v>
                </c:pt>
              </c:strCache>
            </c:strRef>
          </c:tx>
          <c:spPr>
            <a:solidFill>
              <a:srgbClr val="E91E63"/>
            </a:solidFill>
            <a:ln w="31750" cap="flat">
              <a:solidFill>
                <a:srgbClr val="E91E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1E63"/>
              </a:solidFill>
              <a:ln w="9525" cap="flat">
                <a:solidFill>
                  <a:srgbClr val="E91E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44.2</c:v>
                </c:pt>
                <c:pt idx="1">
                  <c:v>45.5</c:v>
                </c:pt>
                <c:pt idx="2">
                  <c:v>46.4</c:v>
                </c:pt>
                <c:pt idx="3">
                  <c:v>45.8</c:v>
                </c:pt>
                <c:pt idx="4">
                  <c:v>46.7</c:v>
                </c:pt>
                <c:pt idx="5">
                  <c:v>46.8</c:v>
                </c:pt>
                <c:pt idx="6">
                  <c:v>48.7</c:v>
                </c:pt>
                <c:pt idx="7">
                  <c:v>47.2</c:v>
                </c:pt>
                <c:pt idx="8">
                  <c:v>48.1</c:v>
                </c:pt>
                <c:pt idx="9">
                  <c:v>44.5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Desocupação (%)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14.8</c:v>
                </c:pt>
                <c:pt idx="2">
                  <c:v>17.8</c:v>
                </c:pt>
                <c:pt idx="3">
                  <c:v>16.9</c:v>
                </c:pt>
                <c:pt idx="4">
                  <c:v>15.6</c:v>
                </c:pt>
                <c:pt idx="5">
                  <c:v>14.8</c:v>
                </c:pt>
                <c:pt idx="6">
                  <c:v>13.3</c:v>
                </c:pt>
                <c:pt idx="7">
                  <c:v>13.4</c:v>
                </c:pt>
                <c:pt idx="8">
                  <c:v>11.2</c:v>
                </c:pt>
                <c:pt idx="9">
                  <c:v>10.2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Informalidade (%)</c:v>
                </c:pt>
              </c:strCache>
            </c:strRef>
          </c:tx>
          <c:spPr>
            <a:solidFill>
              <a:srgbClr val="F4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46.4</c:v>
                </c:pt>
                <c:pt idx="1">
                  <c:v>47.6</c:v>
                </c:pt>
                <c:pt idx="2">
                  <c:v>48.6</c:v>
                </c:pt>
                <c:pt idx="3">
                  <c:v>48.2</c:v>
                </c:pt>
                <c:pt idx="4">
                  <c:v>49</c:v>
                </c:pt>
                <c:pt idx="5">
                  <c:v>48.6</c:v>
                </c:pt>
                <c:pt idx="6">
                  <c:v>50.7</c:v>
                </c:pt>
                <c:pt idx="7">
                  <c:v>49.4</c:v>
                </c:pt>
                <c:pt idx="8">
                  <c:v>49.8</c:v>
                </c:pt>
                <c:pt idx="9">
                  <c:v>47.2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contexto: três fases marcam o mercado de trabalho brasileiro entre 2012 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estrutura narrativa do deck. Cada ato tem um objetivo claro dentro da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numérica. Apresente cada KPI e situe o público antes de mostrar a evolução histórica.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três fases. A crise de 2015-2019 quase triplicou o desemprego em 4 anos. A recuperação desde 2022 é consistente, mas ainda não totalmente consolidada.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barras tornam visual o código de gravidade. Destaque: apenas 2012-2014 e 2025 estão na faixa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o diferencial de gênero não convergiu em nenhum momento da série. A recuperação acompanhou o gap, não o reduziu.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ano a ano. Note que em 2017 (pico) a diferença atingiu quase 4 pp. Em 2025 o gap permanece em torno de 3 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gap de emprego de ~24 pp é um dos maiores da América Latina e persiste independentemente do ciclo econômico.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com queda do desemprego, a informalidade permanece crônica. A recuperação gerou quantidade — mas não necessariamente qualidade — de empregos.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referência. Dados calculados sobre trimestres reais (sem interpolação).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 do storytelling: a divergência entre desocupação e informalidade é a mensagem central sobre a qualidade da recuperação.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referência completa. Verde = desocupação abaixo de 9%. Laranja = 12-15%. Vermelho = acima de 15%.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fechamento. Três achados centrais: (1) recuperação real, (2) desigualdade de gênero estrutural, (3) informalidade crônica. Encerre com a frase de rodapé.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técnico de referência. Apresentar apenas se houver dúvidas metodológicas da audiência.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1295C">
              <a:alpha val="9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58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Trabalho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Brasileiro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evolução da desocupação, emprego e informalidade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três fases distintas — expansão, crise e recuperação.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PNAD Contínua — IBGE  ·  Dados trimestrais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em 5 atos narrativos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2344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61848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Atual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89280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 diagnóstico do mercado em 2025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1012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61848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da Desocupação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89280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histórica: expansão → crise → recuperação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14300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9048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2344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0488" y="161848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de Gênero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0488" y="189280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estrutural de ~3,2 pp entre homens e mulheres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265176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2976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7432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12724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Emprego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29768" y="340156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relativa e diferencial por sexo de ~24 pp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265176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331012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7432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10128" y="312724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Informalidade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0128" y="340156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crise silenciosa: qualidade do emprego gerado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Atual do Mercado de Trabalho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trimestre disponível — T4/2025  ·  Fonte: PNAD Contínua — IBGE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00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07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 TOTAL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▼ 1,5 pp vs.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600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207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 HOMENS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141732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10312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mínimo recente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097280"/>
            <a:ext cx="1600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86200" y="1207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 MULHERES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141732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84048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ainda acima dos 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1600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207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EMPREGO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141732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53,7%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57784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▼ vs. pré-pandemia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097280"/>
            <a:ext cx="1600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1207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9480" y="141732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45,9%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315200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mínimo histórico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51460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606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do período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71800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9808" y="29260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 caiu quase 11 pp desde o pico de 19,0% em 2017-T2 — a maior queda da série histórica.</a:t>
            </a:r>
            <a:endParaRPr lang="en-US" sz="11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49808" y="3520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3,1 pp entre mulheres (9,7%) e homens (8,2%) persiste, sem sinais de convergência.</a:t>
            </a:r>
            <a:endParaRPr lang="en-US" sz="11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052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49808" y="4114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 em mínimo histórico de 45,9%, mas ainda impacta quase metade dos ocupados brasileiros.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 1 · A Jornada da Desocupação (2012–2025)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desocupação total — médias anuais (PNAD Contínua)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14300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44768" y="137160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252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Expansão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1490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44768" y="176479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mínima de 7,4%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(T4/2013)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233172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44768" y="256032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Crise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37960" y="26791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295351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histórico de 19,0%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(T2/2017)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44768" y="374904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3630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Recuperação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37960" y="38679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44768" y="41422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para 8,8%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(T4/2025)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Desocupação Média Anual — Por Faixa de Gravidade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cor: verde &lt; 9%  ·  cinza 9–12%  ·  laranja 12–15%  ·  vermelho ≥ 15%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325880"/>
            <a:ext cx="228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16368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9%  (baixo)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223760" y="1801368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16368" y="17739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9–12% (médio)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23760" y="2276856"/>
            <a:ext cx="2286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16368" y="2249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12–15% (alto)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23760" y="2752344"/>
            <a:ext cx="22860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16368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15%  (crítico)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78040" y="3337560"/>
            <a:ext cx="1691640" cy="1051560"/>
          </a:xfrm>
          <a:prstGeom prst="rect">
            <a:avLst/>
          </a:prstGeom>
          <a:solidFill>
            <a:srgbClr val="E8F4F8"/>
          </a:solidFill>
          <a:ln w="6350">
            <a:solidFill>
              <a:srgbClr val="B0CC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3410712"/>
            <a:ext cx="14173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do período: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13,2%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9% em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dos 13 anos.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 2 · Desigualdade que Não Desaparece — Recorte por Sexo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desocupação anual (%) por sexo — PNAD Contínua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143000"/>
            <a:ext cx="2240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48272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médio — série toda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48272" y="14264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 pp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48272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sempre acima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29400" y="2377440"/>
            <a:ext cx="2240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48272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gap histórico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48272" y="2660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 pp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48272" y="3026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(13,6% H · 18,4% M)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29400" y="3611880"/>
            <a:ext cx="2240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48272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atual (2025)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48272" y="3895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~3,1 pp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48272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8,2% H · 9,7% M (T4/2025)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de Gênero — Comparativo Anual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 média anual por sexo (%) — homens vs. mulheres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8595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 3 · Taxa de Emprego — Assimetria Estrutural por Sexo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emprego anual (%) — % da população em idade ativa  ·  PNAD Contínua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62179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1430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48272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pp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748272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estrutural de emprego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homens e mulheres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de toda a série.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29400" y="2651760"/>
            <a:ext cx="22402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48272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esse gap?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48272" y="2999232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jornada (trabalho doméstico não remunerado)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Segregação ocupacional por setor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à ascensão profissional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cobertura por políticas de emprego formal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 4 · A Crise Silenciosa — Informalidade Estrutural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informalidade (%) — série a partir de 2015-T3  ·  PNAD Contínua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1430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82512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histórico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82512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382512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2022-T2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63640" y="2404872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82512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histórico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82512" y="26791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82512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T4/2025 · série atual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63640" y="3666744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82512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 série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82512" y="39410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2512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Informalidade — Médias Anuais por Sexo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informalidade (%) — somente dados reais  ·  PNAD Contínua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43000"/>
          <a:ext cx="6400800" cy="365760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Homens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Mulheres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Desocupação vs. Informalidade — Trajetórias Divergentes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do desemprego não garantiu melhora proporcional da qualidade do emprego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8595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8F4F8"/>
          </a:solidFill>
          <a:ln w="6350">
            <a:solidFill>
              <a:srgbClr val="B0CC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690872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Desocupação caiu fortemente após 2017 — mas informalidade se manteve acima de 45% durante todo o período, revelando que o mercado gerou empregos em quantidade, mas não necessariamente em qualidade.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Anual Consolidada — Todos os Indicadores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anuais sobre dados reais (interpolações excluídas) — PNAD Contínua / IBGE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3840480"/>
        </p:xfrm>
        <a:graphic>
          <a:graphicData uri="http://schemas.openxmlformats.org/drawingml/2006/table">
            <a:tbl>
              <a:tblPr/>
              <a:tblGrid>
                <a:gridCol w="685800"/>
                <a:gridCol w="1417320"/>
                <a:gridCol w="1417320"/>
                <a:gridCol w="1417320"/>
                <a:gridCol w="1417320"/>
                <a:gridCol w="14630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Desoc.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Desoc.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Desoc.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nos dizem sobre o mercado de trabalho brasileiro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788920" cy="3474720"/>
          </a:xfrm>
          <a:prstGeom prst="rect">
            <a:avLst/>
          </a:prstGeom>
          <a:solidFill>
            <a:srgbClr val="102640"/>
          </a:solidFill>
          <a:ln w="6350">
            <a:solidFill>
              <a:srgbClr val="1A36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3716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755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Recuperação real, mas frágil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2148840"/>
            <a:ext cx="24871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desocupação recuou de 19,0% (pico de 2017-T2) para 8,8% (T4/2025), aproximando-se dos níveis pré-crise de 2013. A queda é expressiva, mas a consolidação estrutural ainda não está garantida.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261872"/>
            <a:ext cx="2788920" cy="3474720"/>
          </a:xfrm>
          <a:prstGeom prst="rect">
            <a:avLst/>
          </a:prstGeom>
          <a:solidFill>
            <a:srgbClr val="102640"/>
          </a:solidFill>
          <a:ln w="6350">
            <a:solidFill>
              <a:srgbClr val="1A36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64992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716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4992" y="1755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de gênero persistente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2148840"/>
            <a:ext cx="24871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de desocupação entre mulheres e homens manteve-se em ~3,2 pp durante toda a série. A recuperação acompanhou o gap — mas não o reduziu. A taxa de emprego feminina ficou ~24 pp abaixo da masculina.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261872"/>
            <a:ext cx="2788920" cy="3474720"/>
          </a:xfrm>
          <a:prstGeom prst="rect">
            <a:avLst/>
          </a:prstGeom>
          <a:solidFill>
            <a:srgbClr val="102640"/>
          </a:solidFill>
          <a:ln w="6350">
            <a:solidFill>
              <a:srgbClr val="1A365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91072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716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1755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Informalidade — o maior desafio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91072" y="2148840"/>
            <a:ext cx="24871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 mínimo histórico de 45,9% (T4/2025), quase metade dos ocupados está sem proteção trabalhista plena. A recuperação gerou quantidade de empregos — a qualidade segue como questão central.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Indicadores de quantidade melhoraram — os de qualidade e equidade ainda não o suficiente.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Metodológica e Fontes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limitações dos dados utilizados nesta análise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 Brasileiro  ·  PNAD Contínua — IBGE  ·  2012–2025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52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primária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1133856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 — IBGE (Pesquisa Nacional por Amostra de Domicílios Contínua). Periodicidade trimestral. Período coberto: 2012-T1 a 2025-T4.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01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ausentes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1883664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no dataset original representam ausência de coleta e foram substituídos por NaN. A lacuna principal cobre 2020-T2 a 2022-T1 (pandemia). Na série de informalidade, dados só estão disponíveis a partir de 2015-T3.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nulos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633472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internas foram preenchidas por interpolação linear (limit_area='inside') para fins de visualização. KPIs e médias anuais calculados exclusivamente sobre dados reais — pontos interpolados excluídos dos indicadores.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 anuais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383280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Calculadas como média simples dos trimestres com dados válidos disponíveis para cada ano. Anos com lacuna parcial (ex: 2020) têm média sobre apenas os trimestres disponíveis.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09651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151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Informalidade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4133088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proporção de trabalhadores ocupados sem carteira assinada ou sem contribuição previdenciária. Não inclui desocupados ou inativos.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Mercado de Trabalho Brasileiro 2012–2025</dc:title>
  <dc:subject>PptxGenJS Presentation</dc:subject>
  <dc:creator>Análise PNAD Contínua — IBGE</dc:creator>
  <cp:lastModifiedBy>Análise PNAD Contínua — IBGE</cp:lastModifiedBy>
  <cp:revision>1</cp:revision>
  <dcterms:created xsi:type="dcterms:W3CDTF">2026-06-11T19:56:48Z</dcterms:created>
  <dcterms:modified xsi:type="dcterms:W3CDTF">2026-06-11T19:56:48Z</dcterms:modified>
</cp:coreProperties>
</file>